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2f913d91d75d8b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2f913d91d75d8b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hardware engineers who need to build tiny, battery-less medical sensors, the Intermittent Computing Prototype is a custom software simulation that guarantees a device can finish its work on weak, flickering power.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Unlike traditional computer chips that wipe their memory and reboot every time the voltage drops, it saves the sensor's exact progress to permanent memory and resumes when energy returns.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2f913d91d75d8bd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2f913d91d75d8bd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an RTL designer, I want a dedicated "Survival Controller" FSM that listens for a low-voltage interrupt, so that the chip can instantly halt the main processor.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a systems engineer, I want the FPGA to automatically serialize and send all in-progress data to the FRAM, so that the chip doesn't lose its intermediate math.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an RTL designer, I want the chip's boot-up sequence to default to checking the FRAM first, so that the system restores its saved progress rather than starting from zero.</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2f913d91d75d8bd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2f913d91d75d8bd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Breadboard &amp; electronics - simulating a voltage drop</a:t>
            </a:r>
            <a:endParaRPr/>
          </a:p>
          <a:p>
            <a:pPr indent="-298450" lvl="0" marL="457200" rtl="0" algn="l">
              <a:spcBef>
                <a:spcPts val="0"/>
              </a:spcBef>
              <a:spcAft>
                <a:spcPts val="0"/>
              </a:spcAft>
              <a:buSzPts val="1100"/>
              <a:buAutoNum type="arabicPeriod"/>
            </a:pPr>
            <a:r>
              <a:rPr lang="en"/>
              <a:t>FPGA - to write and run a simulated biosensor</a:t>
            </a:r>
            <a:endParaRPr/>
          </a:p>
          <a:p>
            <a:pPr indent="-298450" lvl="0" marL="457200" rtl="0" algn="l">
              <a:spcBef>
                <a:spcPts val="0"/>
              </a:spcBef>
              <a:spcAft>
                <a:spcPts val="0"/>
              </a:spcAft>
              <a:buSzPts val="1100"/>
              <a:buAutoNum type="arabicPeriod"/>
            </a:pPr>
            <a:r>
              <a:rPr lang="en"/>
              <a:t>Xilinx - to simulate and synthesize our code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2f913d91d75d8bd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2f913d91d75d8bd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Outlined our teams </a:t>
            </a:r>
            <a:r>
              <a:rPr lang="en"/>
              <a:t>methods</a:t>
            </a:r>
            <a:r>
              <a:rPr lang="en"/>
              <a:t> of communication and laid the foundation for the rest of the project</a:t>
            </a:r>
            <a:endParaRPr/>
          </a:p>
          <a:p>
            <a:pPr indent="-298450" lvl="0" marL="457200" rtl="0" algn="l">
              <a:spcBef>
                <a:spcPts val="0"/>
              </a:spcBef>
              <a:spcAft>
                <a:spcPts val="0"/>
              </a:spcAft>
              <a:buSzPts val="1100"/>
              <a:buChar char="-"/>
            </a:pPr>
            <a:r>
              <a:rPr lang="en"/>
              <a:t>Collected our necessary materials to implement our project</a:t>
            </a:r>
            <a:endParaRPr/>
          </a:p>
          <a:p>
            <a:pPr indent="-298450" lvl="0" marL="457200" rtl="0" algn="l">
              <a:spcBef>
                <a:spcPts val="0"/>
              </a:spcBef>
              <a:spcAft>
                <a:spcPts val="0"/>
              </a:spcAft>
              <a:buSzPts val="1100"/>
              <a:buChar char="-"/>
            </a:pPr>
            <a:r>
              <a:rPr lang="en"/>
              <a:t>Done background research to form a basis of knowledge for the project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2f913d91d75d8bd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2f913d91d75d8bd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Next generation devices r</a:t>
            </a:r>
            <a:r>
              <a:rPr lang="en"/>
              <a:t>eplacing batteries with ambient energy harvesters to solve size and safety problems</a:t>
            </a:r>
            <a:endParaRPr/>
          </a:p>
          <a:p>
            <a:pPr indent="0" lvl="0" marL="457200" rtl="0" algn="l">
              <a:spcBef>
                <a:spcPts val="0"/>
              </a:spcBef>
              <a:spcAft>
                <a:spcPts val="0"/>
              </a:spcAft>
              <a:buNone/>
            </a:pPr>
            <a:r>
              <a:rPr lang="en"/>
              <a:t>but it introduces issues with reliability</a:t>
            </a:r>
            <a:endParaRPr/>
          </a:p>
          <a:p>
            <a:pPr indent="-298450" lvl="0" marL="457200" rtl="0" algn="l">
              <a:spcBef>
                <a:spcPts val="0"/>
              </a:spcBef>
              <a:spcAft>
                <a:spcPts val="0"/>
              </a:spcAft>
              <a:buSzPts val="1100"/>
              <a:buChar char="-"/>
            </a:pPr>
            <a:r>
              <a:rPr lang="en"/>
              <a:t>Solution: Intermittent computing. By building smart circuits that instantly save their work to permanent memory the moment power drops, the device can pick up exactly where it left off when power returns.</a:t>
            </a:r>
            <a:endParaRPr/>
          </a:p>
          <a:p>
            <a:pPr indent="-298450" lvl="0" marL="457200" rtl="0" algn="l">
              <a:spcBef>
                <a:spcPts val="0"/>
              </a:spcBef>
              <a:spcAft>
                <a:spcPts val="0"/>
              </a:spcAft>
              <a:buSzPts val="1100"/>
              <a:buChar char="-"/>
            </a:pPr>
            <a:r>
              <a:rPr lang="en"/>
              <a:t>Design an intermittent controller FSM that simulates the lifecycle of a ambient-energy harvesting device. Show this on an FPGA device.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2f913d91d75d8bd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h2f913d91d75d8bd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Intermittent-Energy Bio-Sensors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Audrey and Dill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Mission Statement</a:t>
            </a:r>
            <a:endParaRPr/>
          </a:p>
        </p:txBody>
      </p:sp>
      <p:sp>
        <p:nvSpPr>
          <p:cNvPr id="61" name="Google Shape;61;p14"/>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n">
                <a:solidFill>
                  <a:schemeClr val="dk1"/>
                </a:solidFill>
              </a:rPr>
              <a:t>For hardware engineers who need to build tiny, battery-less medical sensors, the Intermittent Computing Prototype is a custom hardware simulation that guarantees a device can finish its work on low power.</a:t>
            </a:r>
            <a:endParaRPr>
              <a:solidFill>
                <a:schemeClr val="dk1"/>
              </a:solidFill>
            </a:endParaRPr>
          </a:p>
          <a:p>
            <a:pPr indent="0" lvl="0" marL="0" rtl="0" algn="ctr">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ctr">
              <a:lnSpc>
                <a:spcPct val="100000"/>
              </a:lnSpc>
              <a:spcBef>
                <a:spcPts val="0"/>
              </a:spcBef>
              <a:spcAft>
                <a:spcPts val="0"/>
              </a:spcAft>
              <a:buClr>
                <a:schemeClr val="dk1"/>
              </a:buClr>
              <a:buSzPts val="1100"/>
              <a:buFont typeface="Arial"/>
              <a:buNone/>
            </a:pPr>
            <a:r>
              <a:rPr lang="en">
                <a:solidFill>
                  <a:schemeClr val="dk1"/>
                </a:solidFill>
              </a:rPr>
              <a:t>Unlike traditional computer chips that wipe their memory and reboot every time the voltage drops, it saves the sensor's exact progress to permanent memory and resumes when energy returns.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Stories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RTL Designer pt.1</a:t>
            </a:r>
            <a:endParaRPr/>
          </a:p>
          <a:p>
            <a:pPr indent="-342900" lvl="0" marL="457200" rtl="0" algn="l">
              <a:spcBef>
                <a:spcPts val="0"/>
              </a:spcBef>
              <a:spcAft>
                <a:spcPts val="0"/>
              </a:spcAft>
              <a:buSzPts val="1800"/>
              <a:buAutoNum type="arabicPeriod"/>
            </a:pPr>
            <a:r>
              <a:rPr lang="en"/>
              <a:t>Systems Engineer</a:t>
            </a:r>
            <a:endParaRPr/>
          </a:p>
          <a:p>
            <a:pPr indent="-342900" lvl="0" marL="457200" rtl="0" algn="l">
              <a:spcBef>
                <a:spcPts val="0"/>
              </a:spcBef>
              <a:spcAft>
                <a:spcPts val="0"/>
              </a:spcAft>
              <a:buSzPts val="1800"/>
              <a:buAutoNum type="arabicPeriod"/>
            </a:pPr>
            <a:r>
              <a:rPr lang="en"/>
              <a:t>RTL Designer pt.2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Breadboard/circuitry</a:t>
            </a:r>
            <a:endParaRPr/>
          </a:p>
          <a:p>
            <a:pPr indent="-342900" lvl="0" marL="457200" rtl="0" algn="l">
              <a:spcBef>
                <a:spcPts val="0"/>
              </a:spcBef>
              <a:spcAft>
                <a:spcPts val="0"/>
              </a:spcAft>
              <a:buSzPts val="1800"/>
              <a:buAutoNum type="arabicPeriod"/>
            </a:pPr>
            <a:r>
              <a:rPr lang="en"/>
              <a:t>FPGA</a:t>
            </a:r>
            <a:endParaRPr/>
          </a:p>
          <a:p>
            <a:pPr indent="-342900" lvl="0" marL="457200" rtl="0" algn="l">
              <a:spcBef>
                <a:spcPts val="0"/>
              </a:spcBef>
              <a:spcAft>
                <a:spcPts val="0"/>
              </a:spcAft>
              <a:buSzPts val="1800"/>
              <a:buAutoNum type="arabicPeriod"/>
            </a:pPr>
            <a:r>
              <a:rPr lang="en"/>
              <a:t>Xilinx</a:t>
            </a:r>
            <a:endParaRPr/>
          </a:p>
        </p:txBody>
      </p:sp>
      <p:pic>
        <p:nvPicPr>
          <p:cNvPr id="74" name="Google Shape;74;p16"/>
          <p:cNvPicPr preferRelativeResize="0"/>
          <p:nvPr/>
        </p:nvPicPr>
        <p:blipFill rotWithShape="1">
          <a:blip r:embed="rId3">
            <a:alphaModFix/>
          </a:blip>
          <a:srcRect b="0" l="0" r="0" t="0"/>
          <a:stretch/>
        </p:blipFill>
        <p:spPr>
          <a:xfrm>
            <a:off x="4665312" y="2932448"/>
            <a:ext cx="4166989" cy="1924800"/>
          </a:xfrm>
          <a:prstGeom prst="rect">
            <a:avLst/>
          </a:prstGeom>
          <a:noFill/>
          <a:ln>
            <a:noFill/>
          </a:ln>
        </p:spPr>
      </p:pic>
      <p:pic>
        <p:nvPicPr>
          <p:cNvPr id="75" name="Google Shape;75;p16"/>
          <p:cNvPicPr preferRelativeResize="0"/>
          <p:nvPr/>
        </p:nvPicPr>
        <p:blipFill>
          <a:blip r:embed="rId4">
            <a:alphaModFix/>
          </a:blip>
          <a:stretch>
            <a:fillRect/>
          </a:stretch>
        </p:blipFill>
        <p:spPr>
          <a:xfrm>
            <a:off x="5137080" y="400575"/>
            <a:ext cx="3223433" cy="2417575"/>
          </a:xfrm>
          <a:prstGeom prst="rect">
            <a:avLst/>
          </a:prstGeom>
          <a:noFill/>
          <a:ln>
            <a:noFill/>
          </a:ln>
        </p:spPr>
      </p:pic>
      <p:pic>
        <p:nvPicPr>
          <p:cNvPr id="76" name="Google Shape;76;p16"/>
          <p:cNvPicPr preferRelativeResize="0"/>
          <p:nvPr/>
        </p:nvPicPr>
        <p:blipFill rotWithShape="1">
          <a:blip r:embed="rId5">
            <a:alphaModFix/>
          </a:blip>
          <a:srcRect b="16130" l="16459" r="13262" t="14521"/>
          <a:stretch/>
        </p:blipFill>
        <p:spPr>
          <a:xfrm>
            <a:off x="1348575" y="2181600"/>
            <a:ext cx="2711675" cy="2675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 Made</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Outline</a:t>
            </a:r>
            <a:endParaRPr/>
          </a:p>
          <a:p>
            <a:pPr indent="-342900" lvl="0" marL="457200" rtl="0" algn="l">
              <a:spcBef>
                <a:spcPts val="0"/>
              </a:spcBef>
              <a:spcAft>
                <a:spcPts val="0"/>
              </a:spcAft>
              <a:buSzPts val="1800"/>
              <a:buChar char="-"/>
            </a:pPr>
            <a:r>
              <a:rPr lang="en"/>
              <a:t>Materials</a:t>
            </a:r>
            <a:endParaRPr/>
          </a:p>
          <a:p>
            <a:pPr indent="-342900" lvl="0" marL="457200" rtl="0" algn="l">
              <a:spcBef>
                <a:spcPts val="0"/>
              </a:spcBef>
              <a:spcAft>
                <a:spcPts val="0"/>
              </a:spcAft>
              <a:buSzPts val="1800"/>
              <a:buChar char="-"/>
            </a:pPr>
            <a:r>
              <a:rPr lang="en"/>
              <a:t>Research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We’ve Learned</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New power options for medical devices</a:t>
            </a:r>
            <a:endParaRPr/>
          </a:p>
          <a:p>
            <a:pPr indent="-342900" lvl="0" marL="457200" rtl="0" algn="l">
              <a:spcBef>
                <a:spcPts val="0"/>
              </a:spcBef>
              <a:spcAft>
                <a:spcPts val="0"/>
              </a:spcAft>
              <a:buSzPts val="1800"/>
              <a:buChar char="-"/>
            </a:pPr>
            <a:r>
              <a:rPr lang="en"/>
              <a:t>Problems and solutions to those new power options</a:t>
            </a:r>
            <a:endParaRPr/>
          </a:p>
          <a:p>
            <a:pPr indent="-342900" lvl="0" marL="457200" rtl="0" algn="l">
              <a:spcBef>
                <a:spcPts val="0"/>
              </a:spcBef>
              <a:spcAft>
                <a:spcPts val="0"/>
              </a:spcAft>
              <a:buSzPts val="1800"/>
              <a:buChar char="-"/>
            </a:pPr>
            <a:r>
              <a:rPr lang="en"/>
              <a:t>How to translate this solution into a hardware.software simulation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Sprint 2 Goals</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User story:</a:t>
            </a:r>
            <a:endParaRPr/>
          </a:p>
          <a:p>
            <a:pPr indent="0" lvl="0" marL="0" rtl="0" algn="l">
              <a:spcBef>
                <a:spcPts val="1200"/>
              </a:spcBef>
              <a:spcAft>
                <a:spcPts val="0"/>
              </a:spcAft>
              <a:buNone/>
            </a:pPr>
            <a:r>
              <a:rPr lang="en"/>
              <a:t>“</a:t>
            </a:r>
            <a:r>
              <a:rPr lang="en"/>
              <a:t>As an RTL designer, I want a dedicated "Survival Controller" FSM that listens for a low-voltage interrupt, so that the chip can instantly halt the main processor.”</a:t>
            </a:r>
            <a:endParaRPr/>
          </a:p>
          <a:p>
            <a:pPr indent="0" lvl="0" marL="0" rtl="0" algn="l">
              <a:spcBef>
                <a:spcPts val="1200"/>
              </a:spcBef>
              <a:spcAft>
                <a:spcPts val="0"/>
              </a:spcAft>
              <a:buNone/>
            </a:pPr>
            <a:r>
              <a:rPr lang="en"/>
              <a:t>Tasks needed:</a:t>
            </a:r>
            <a:endParaRPr/>
          </a:p>
          <a:p>
            <a:pPr indent="-342900" lvl="0" marL="457200" rtl="0" algn="l">
              <a:spcBef>
                <a:spcPts val="1200"/>
              </a:spcBef>
              <a:spcAft>
                <a:spcPts val="0"/>
              </a:spcAft>
              <a:buSzPts val="1800"/>
              <a:buAutoNum type="arabicPeriod"/>
            </a:pPr>
            <a:r>
              <a:rPr lang="en"/>
              <a:t>Breadboard to simulate interrupt - interactable, in-person.</a:t>
            </a:r>
            <a:endParaRPr/>
          </a:p>
          <a:p>
            <a:pPr indent="-342900" lvl="0" marL="457200" rtl="0" algn="l">
              <a:spcBef>
                <a:spcPts val="0"/>
              </a:spcBef>
              <a:spcAft>
                <a:spcPts val="0"/>
              </a:spcAft>
              <a:buSzPts val="1800"/>
              <a:buAutoNum type="arabicPeriod"/>
            </a:pPr>
            <a:r>
              <a:rPr lang="en"/>
              <a:t>FSM which sets an interrupt when voltage starts dropping.</a:t>
            </a:r>
            <a:endParaRPr/>
          </a:p>
          <a:p>
            <a:pPr indent="-342900" lvl="0" marL="457200" rtl="0" algn="l">
              <a:spcBef>
                <a:spcPts val="0"/>
              </a:spcBef>
              <a:spcAft>
                <a:spcPts val="0"/>
              </a:spcAft>
              <a:buSzPts val="1800"/>
              <a:buAutoNum type="arabicPeriod"/>
            </a:pPr>
            <a:r>
              <a:rPr lang="en"/>
              <a:t>FSM-to-breadboard connection.</a:t>
            </a:r>
            <a:endParaRPr/>
          </a:p>
          <a:p>
            <a:pPr indent="0" lvl="0" marL="0" rtl="0" algn="l">
              <a:spcBef>
                <a:spcPts val="1200"/>
              </a:spcBef>
              <a:spcAft>
                <a:spcPts val="1200"/>
              </a:spcAft>
              <a:buNone/>
            </a:pPr>
            <a:r>
              <a:rPr lang="en"/>
              <a:t>Our riskiest assumption - will voltage drop slowly enough for the FSM to work?</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